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2563EB"/>
                </a:solidFill>
              </a:defRPr>
            </a:pPr>
            <a:r>
              <a:t>InvoiceIQ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Extraction intelligente et interrogation de factures par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2937"/>
                </a:solidFill>
              </a:defRPr>
            </a:pPr>
            <a:r>
              <a:t>Contexte et problematique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 centaines de factures par mois (PDF scannes ou natifs)</a:t>
            </a:r>
          </a:p>
          <a:p>
            <a:pPr>
              <a:defRPr sz="2200"/>
            </a:pPr>
            <a:r>
              <a:t>Traitement manuel : lent, couteux, source d'erreurs</a:t>
            </a:r>
          </a:p>
          <a:p>
            <a:pPr>
              <a:defRPr sz="2200"/>
            </a:pPr>
            <a:r>
              <a:t>Besoin : automatiser l'extraction + recherche intelligente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2937"/>
                </a:solidFill>
              </a:defRPr>
            </a:pPr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O1 - Extraire automatiquement les donnees structurees</a:t>
            </a:r>
          </a:p>
          <a:p>
            <a:pPr>
              <a:defRPr sz="2200"/>
            </a:pPr>
            <a:r>
              <a:t>O2 - Permettre une recherche en langage naturel</a:t>
            </a:r>
          </a:p>
          <a:p>
            <a:pPr>
              <a:defRPr sz="2200"/>
            </a:pPr>
            <a:r>
              <a:t>O3 - Indexer plusieurs factures pour les interroger ensemble</a:t>
            </a:r>
          </a:p>
          <a:p>
            <a:pPr>
              <a:defRPr sz="2200"/>
            </a:pPr>
            <a:r>
              <a:t>O4 - Fournir une interface web simple et intuitive</a:t>
            </a:r>
          </a:p>
          <a:p>
            <a:pPr>
              <a:defRPr sz="2200"/>
            </a:pPr>
            <a:r>
              <a:t>O5 - Deployer via Docker en une seule commande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2937"/>
                </a:solidFill>
              </a:defRPr>
            </a:pPr>
            <a:r>
              <a:t>Fonctionnalites developpees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Upload PDF/PNG/JPG + OCR (Docling)</a:t>
            </a:r>
          </a:p>
          <a:p>
            <a:pPr>
              <a:defRPr sz="2200"/>
            </a:pPr>
            <a:r>
              <a:t>Extraction structuree (n°, date, fournisseur, HT/TVA/TTC)</a:t>
            </a:r>
          </a:p>
          <a:p>
            <a:pPr>
              <a:defRPr sz="2200"/>
            </a:pPr>
            <a:r>
              <a:t>Indexation vectorielle (chunking + embeddings + ChromaDB)</a:t>
            </a:r>
          </a:p>
          <a:p>
            <a:pPr>
              <a:defRPr sz="2200"/>
            </a:pPr>
            <a:r>
              <a:t>Chat : totaux exacts (SQL) + RAG pour les details</a:t>
            </a:r>
          </a:p>
          <a:p>
            <a:pPr>
              <a:defRPr sz="2200"/>
            </a:pPr>
            <a:r>
              <a:t>Bonus : export JSON, tableau de bord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2937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 React &lt;-&gt; Backend FastAPI (API REST)</a:t>
            </a:r>
          </a:p>
          <a:p>
            <a:pPr>
              <a:defRPr sz="2200"/>
            </a:pPr>
            <a:r>
              <a:t>Docling (OCR) + Groq (LLM) pour extraction et generation</a:t>
            </a:r>
          </a:p>
          <a:p>
            <a:pPr>
              <a:defRPr sz="2200"/>
            </a:pPr>
            <a:r>
              <a:t>ChromaDB (vecteurs) + SQLite (metadonnees)</a:t>
            </a:r>
          </a:p>
          <a:p>
            <a:pPr>
              <a:defRPr sz="2200"/>
            </a:pPr>
            <a:r>
              <a:t>Deploiement complet via Docker 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2937"/>
                </a:solidFill>
              </a:defRPr>
            </a:pPr>
            <a:r>
              <a:t>Stack technique et choix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OCR : Docling (IBM, open-source)</a:t>
            </a:r>
          </a:p>
          <a:p>
            <a:pPr>
              <a:defRPr sz="2200"/>
            </a:pPr>
            <a:r>
              <a:t>LLM : Groq (gratuit, tres faible latence)</a:t>
            </a:r>
          </a:p>
          <a:p>
            <a:pPr>
              <a:defRPr sz="2200"/>
            </a:pPr>
            <a:r>
              <a:t>Vector DB : ChromaDB (leger, facile a dockeriser)</a:t>
            </a:r>
          </a:p>
          <a:p>
            <a:pPr>
              <a:defRPr sz="2200"/>
            </a:pPr>
            <a:r>
              <a:t>Backend : FastAPI (async, Pydantic, doc auto)</a:t>
            </a:r>
          </a:p>
          <a:p>
            <a:pPr>
              <a:defRPr sz="2200"/>
            </a:pPr>
            <a:r>
              <a:t>Frontend : React + TailwindCSS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2937"/>
                </a:solidFill>
              </a:defRPr>
            </a:pPr>
            <a:r>
              <a:t>Demo 1 - Factures importees et extraites</a:t>
            </a:r>
          </a:p>
        </p:txBody>
      </p:sp>
      <p:pic>
        <p:nvPicPr>
          <p:cNvPr id="3" name="Picture 2" descr="1_fa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34440"/>
            <a:ext cx="7754112" cy="484632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B5563"/>
                </a:solidFill>
              </a:defRPr>
            </a:pPr>
            <a:r>
              <a:t>Upload -&gt; OCR (Docling) -&gt; extraction LLM validee : n°, fournisseur, montant TTC et devise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2937"/>
                </a:solidFill>
              </a:defRPr>
            </a:pPr>
            <a:r>
              <a:t>Demo 2 - Questions en langage naturel</a:t>
            </a:r>
          </a:p>
        </p:txBody>
      </p:sp>
      <p:pic>
        <p:nvPicPr>
          <p:cNvPr id="3" name="Picture 2" descr="2_chat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34440"/>
            <a:ext cx="7754112" cy="484632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B5563"/>
                </a:solidFill>
              </a:defRPr>
            </a:pPr>
            <a:r>
              <a:t>Total exact calcule a partir des donnees extraites + detail (chaises) retrouve par le RAG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2937"/>
                </a:solidFill>
              </a:defRPr>
            </a:pPr>
            <a:r>
              <a:t>Demo 3 - Question de suivi et extraits consultes</a:t>
            </a:r>
          </a:p>
        </p:txBody>
      </p:sp>
      <p:pic>
        <p:nvPicPr>
          <p:cNvPr id="3" name="Picture 2" descr="3_chat_sui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34440"/>
            <a:ext cx="7754112" cy="484632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B5563"/>
                </a:solidFill>
              </a:defRPr>
            </a:pPr>
            <a:r>
              <a:t>"cette facture" est reformulee en "facture 5" ; les extraits utilises sont affiches avec leur similarite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2937"/>
                </a:solidFill>
              </a:defRPr>
            </a:pPr>
            <a:r>
              <a:t>Demo 4 - Tableau de bord</a:t>
            </a:r>
          </a:p>
        </p:txBody>
      </p:sp>
      <p:pic>
        <p:nvPicPr>
          <p:cNvPr id="3" name="Picture 2" descr="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1234440"/>
            <a:ext cx="7754112" cy="484632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B5563"/>
                </a:solidFill>
              </a:defRPr>
            </a:pPr>
            <a:r>
              <a:t>Totaux par devise et par fournisseur, calcules cote serveur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2937"/>
                </a:solidFill>
              </a:defRPr>
            </a:pPr>
            <a:r>
              <a:t>Defis techniques rencontres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Incompatibilite librairie groq / httpx -&gt; version figee</a:t>
            </a:r>
          </a:p>
          <a:p>
            <a:pPr>
              <a:defRPr sz="2200"/>
            </a:pPr>
            <a:r>
              <a:t>Modele Groq deprecie en prod -&gt; bascule de modele</a:t>
            </a:r>
          </a:p>
          <a:p>
            <a:pPr>
              <a:defRPr sz="2200"/>
            </a:pPr>
            <a:r>
              <a:t>Bug de volume Docker ecrasant le code source -&gt; separation code/donnees</a:t>
            </a:r>
          </a:p>
          <a:p>
            <a:pPr>
              <a:defRPr sz="2200"/>
            </a:pPr>
            <a:r>
              <a:t>Frontend statique sans proxy API -&gt; reverse-proxy nginx</a:t>
            </a:r>
          </a:p>
          <a:p>
            <a:pPr>
              <a:defRPr sz="2200"/>
            </a:pPr>
            <a:r>
              <a:t>Build Docker bloque (PyTorch CUDA ~3 Go) -&gt; PyTorch CPU (~200 Mo)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2937"/>
                </a:solidFill>
              </a:defRPr>
            </a:pPr>
            <a:r>
              <a:t>Tests et resultats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Extraction : 27/27 champs corrects (evaluation automatisee)</a:t>
            </a:r>
          </a:p>
          <a:p>
            <a:pPr>
              <a:defRPr sz="2200"/>
            </a:pPr>
            <a:r>
              <a:t>Recherche RAG : bonne facture classee 1re pour 12/12 questions</a:t>
            </a:r>
          </a:p>
          <a:p>
            <a:pPr>
              <a:defRPr sz="2200"/>
            </a:pPr>
            <a:r>
              <a:t>Controle comptable auto : HT + TVA = TTC, sinon 'a verifier'</a:t>
            </a:r>
          </a:p>
          <a:p>
            <a:pPr>
              <a:defRPr sz="2200"/>
            </a:pPr>
            <a:r>
              <a:t>Mesure sur 3 factures de test : a confirmer sur des factures reelles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2937"/>
                </a:solidFill>
              </a:defRPr>
            </a:pPr>
            <a:r>
              <a:t>Conclusion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Budget total : 0 EUR (100% outils gratuits/open-source)</a:t>
            </a:r>
          </a:p>
          <a:p>
            <a:pPr>
              <a:defRPr sz="2200"/>
            </a:pPr>
            <a:r>
              <a:t>Limites : jeu de test reduit, pas encore de vraies factures scannees</a:t>
            </a:r>
          </a:p>
          <a:p>
            <a:pPr>
              <a:defRPr sz="2200"/>
            </a:pPr>
            <a:r>
              <a:t>Pistes : evaluation sur factures reelles, authentification, OCR multilingue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